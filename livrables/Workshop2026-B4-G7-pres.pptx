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eddcc7d7-82be-63e3-886e-60fc8c79a5da}">
          <p14:sldIdLst>
            <p14:sldId id="256"/>
            <p14:sldId id="257"/>
            <p14:sldId id="258"/>
          </p14:sldIdLst>
        </p14:section>
        <p14:section name="Teaser et démo" id="{e7cb9d16-4dbb-13ec-6a87-24029e60f2c6}">
          <p14:sldIdLst>
            <p14:sldId id="259"/>
            <p14:sldId id="260"/>
          </p14:sldIdLst>
        </p14:section>
        <p14:section name="Pitch technique" id="{56d32da3-89c9-8e55-7f00-5befd7a135ec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Conclusion" id="{4d245877-31b4-8dd1-97e4-bf73335fc3d5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181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181F"/>
                </a:solidFill>
                <a:latin typeface="+mn-lt"/>
              </a:rPr>
              <a:t>Avance médiane sur le seuil critique (minutes)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Avance (min)</c:v>
                </c:pt>
              </c:strCache>
            </c:strRef>
          </c:tx>
          <c:spPr>
            <a:solidFill>
              <a:srgbClr val="1418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418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Fuite de gaz lente</c:v>
                  </c:pt>
                  <c:pt idx="1">
                    <c:v>Chauffe + dérive gaz (démo)</c:v>
                  </c:pt>
                  <c:pt idx="2">
                    <c:v>Surchauffe lente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18</c:v>
                </c:pt>
                <c:pt idx="2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1418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A445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Tous (Felis ouvre). 0:00 – 1:00 · Présentation. Une phrase chacun : prénom et rôle. Puis : « AetherCorp perd ses micro-centrales isolées sous trois menaces à la fois. Notre réponse : Sentinel-X. » Enchaîner sur la variante d'architecture (diapo suivante) avant de lancer le teaser.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Felis. Trois menaces simultanées, une réponse par menace. Insister : les trois briques sont reliées entre elles, c'est la règle éliminatoire du sujet.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Elios. Rappel de la variante d'architecture (exigé en minute 1). Option B distribuée : le PC Serveur Local est réparti sur des VM Proxmox. La caméra du robot remplace la webcam USB, variante validée par les coachs. Flèches rouges = flux chiffrés TLS.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Personne (vidéo). 1:00 – 2:00 · Lancer la vidéo VidDrop en plein écran. Ne rien dire pendant la lecture.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Martin au clavier, Matis raconte, Elios (Wireshark) et Benoit (ufw, SSH). 2:00 – 5:00 · Démo live, dans cet ordre. Préparer avant : anomaly_service lancé depuis plus de 60 s, boîtier chauffé depuis 60 s, Wireshark ouvert sur le port 8883, terminal SSH prêt. Plan B si le boîtier tombe : simulate.py --scenario demo --publish --speed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Felis. Le boîtier. Points à dire : TLS avec CA embarqué (pas juste chiffré : le broker est authentifié), Last Will pour détecter une coupure, boucle sans delay. Question probable du jury : pourquoi MQ-135 ? Même brochage analogique que le MQ-2, détection relative à l'air calme.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Martin. La vidéo ne passe pas par MQTT (25 i/s saturerait le broker) : seuls les événements y transitent. YOLO26n nano = plus léger de la famille, temps réel sur CPU. Donner la latence mesurée en démo.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Matis. Le cœur de l'innovation. Le firmware a des seuils avec une référence adaptative : une fuite lente est absorbée par la référence, il ne la voit jamais. L'IA apprend le normal par capteur et prévient 9 à 22 minutes avant le seuil. Évaluation sur données inédites, 20 tirages par scénario.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Matis. Haut : gaz brut et référence du firmware (pointillés), confondus. Bas : indice de risque par capteur, seuil à 1. L'IA déclenche vers 11 min, le firmware jamais. Limite honnête : normal simulé, à réentraîner sur une heure réelle de la salle.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Benoit. Proxmox, 4 VLAN en /26. Pourquoi 3 nœuds Galera et pas 2 : avec 2, la perte d'un nœud bloque le cluster (plus de majorité). Démo possible : arrêter un nœud, l'API continue.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Elios. Tout ce qui est sur cette diapo se démontre en direct : Wireshark, ufw status, connexion SSH par mot de passe refusée.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Benoit. À gauche, l'auto-audit du matin et ses correctifs (détail dans le dossier, section 11). À droite, À COMPLÉTER avec le bilan du pentest de l'après-midi.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Martin. Le risque n°1 identifié lundi était l'intégration : on a figé topics MQTT, payloads et routes dès le premier jour. C'est ce qui a permis le bout en bout mercredi.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Felis. Conclure en 15 secondes sur les trois points, puis ouvrir les questions. Si on demande la suite : cluster Mosquitto, réentraînement de l'IA sur les données de la salle, sauvegardes automatisées de la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_SOMBR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spc="4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554480"/>
            <a:ext cx="868680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931920"/>
            <a:ext cx="8686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Sentinel-X · Groupe 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_SOMBR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Sentinel-X · Groupe 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chemeClr val="accent1"/>
                </a:solidFill>
              </a:rPr>
              <a:t>AETHERCORP INDUSTRIAL SOLUTIONS · INITIATIVE SENTINEL-X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554480"/>
            <a:ext cx="8686800" cy="21945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bg1"/>
                </a:solidFill>
              </a:rPr>
              <a:t>Sentinel-X</a:t>
            </a:r>
            <a:endParaRPr lang="en-US" sz="6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93192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Yanshee Defender 3000 · la sécurité à la bordure.</a:t>
            </a:r>
            <a:endParaRPr lang="en-US" sz="2400" dirty="0"/>
          </a:p>
        </p:txBody>
      </p:sp>
      <p:pic>
        <p:nvPicPr>
          <p:cNvPr id="5" name="logo-bouclier" descr="/Users/felis/Documents/Workspace/Ecole/Master/Workshop-2026/Sentinel-X-Yanshee-defender-3000/livrables/sources/pptx/shiel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8138160" y="822960"/>
            <a:ext cx="4206240" cy="4206240"/>
          </a:xfrm>
          <a:prstGeom prst="rect">
            <a:avLst/>
          </a:prstGeom>
        </p:spPr>
      </p:pic>
      <p:sp>
        <p:nvSpPr>
          <p:cNvPr id="6" name="equipe"/>
          <p:cNvSpPr txBox="1"/>
          <p:nvPr/>
        </p:nvSpPr>
        <p:spPr>
          <a:xfrm>
            <a:off x="731520" y="5394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Workshop national EPSI Bac+4 · Groupe 7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Elios · Benoit (Infra)   ·   Felis · Martin · Matis (Dev)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Trois menaces, une seule sentinelle</a:t>
            </a:r>
            <a:endParaRPr lang="en-US" sz="3200" dirty="0"/>
          </a:p>
        </p:txBody>
      </p:sp>
      <p:sp>
        <p:nvSpPr>
          <p:cNvPr id="3" name="menace-1-fond"/>
          <p:cNvSpPr/>
          <p:nvPr/>
        </p:nvSpPr>
        <p:spPr>
          <a:xfrm>
            <a:off x="548640" y="1417320"/>
            <a:ext cx="3566160" cy="3063240"/>
          </a:xfrm>
          <a:prstGeom prst="roundRect">
            <a:avLst>
              <a:gd name="adj" fmla="val 17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menace-1-entete"/>
          <p:cNvSpPr/>
          <p:nvPr/>
        </p:nvSpPr>
        <p:spPr>
          <a:xfrm>
            <a:off x="548640" y="1417320"/>
            <a:ext cx="3566160" cy="1005840"/>
          </a:xfrm>
          <a:prstGeom prst="roundRect">
            <a:avLst>
              <a:gd name="adj" fmla="val 545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menace-1-raccord"/>
          <p:cNvSpPr/>
          <p:nvPr/>
        </p:nvSpPr>
        <p:spPr>
          <a:xfrm>
            <a:off x="548640" y="2313432"/>
            <a:ext cx="3566160" cy="109728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menace-1-titre"/>
          <p:cNvSpPr txBox="1"/>
          <p:nvPr/>
        </p:nvSpPr>
        <p:spPr>
          <a:xfrm>
            <a:off x="731520" y="1490472"/>
            <a:ext cx="3200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INTRUSION PHYSIQUE</a:t>
            </a:r>
            <a:endParaRPr lang="en-US" sz="11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Espionnage industriel</a:t>
            </a:r>
            <a:endParaRPr lang="en-US" sz="1100" dirty="0"/>
          </a:p>
        </p:txBody>
      </p:sp>
      <p:sp>
        <p:nvSpPr>
          <p:cNvPr id="7" name="menace-1-texte"/>
          <p:cNvSpPr txBox="1"/>
          <p:nvPr/>
        </p:nvSpPr>
        <p:spPr>
          <a:xfrm>
            <a:off x="731520" y="2560320"/>
            <a:ext cx="3200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IA de vision YOLO26n sur la caméra du robot Yanshee : détection de personne, photo de preuve, riposte du robot.</a:t>
            </a:r>
            <a:endParaRPr lang="en-US" sz="1700" dirty="0"/>
          </a:p>
        </p:txBody>
      </p:sp>
      <p:sp>
        <p:nvSpPr>
          <p:cNvPr id="8" name="menace-2-fond"/>
          <p:cNvSpPr/>
          <p:nvPr/>
        </p:nvSpPr>
        <p:spPr>
          <a:xfrm>
            <a:off x="4297680" y="1417320"/>
            <a:ext cx="3566160" cy="3063240"/>
          </a:xfrm>
          <a:prstGeom prst="roundRect">
            <a:avLst>
              <a:gd name="adj" fmla="val 17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enace-2-entete"/>
          <p:cNvSpPr/>
          <p:nvPr/>
        </p:nvSpPr>
        <p:spPr>
          <a:xfrm>
            <a:off x="4297680" y="1417320"/>
            <a:ext cx="3566160" cy="1005840"/>
          </a:xfrm>
          <a:prstGeom prst="roundRect">
            <a:avLst>
              <a:gd name="adj" fmla="val 545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menace-2-raccord"/>
          <p:cNvSpPr/>
          <p:nvPr/>
        </p:nvSpPr>
        <p:spPr>
          <a:xfrm>
            <a:off x="4297680" y="2313432"/>
            <a:ext cx="3566160" cy="109728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menace-2-titre"/>
          <p:cNvSpPr txBox="1"/>
          <p:nvPr/>
        </p:nvSpPr>
        <p:spPr>
          <a:xfrm>
            <a:off x="4480560" y="1490472"/>
            <a:ext cx="3200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RISQUE ENVIRONNEMENTAL</a:t>
            </a:r>
            <a:endParaRPr lang="en-US" sz="11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Fuite de gaz, surchauffe</a:t>
            </a:r>
            <a:endParaRPr lang="en-US" sz="1100" dirty="0"/>
          </a:p>
        </p:txBody>
      </p:sp>
      <p:sp>
        <p:nvSpPr>
          <p:cNvPr id="12" name="menace-2-texte"/>
          <p:cNvSpPr txBox="1"/>
          <p:nvPr/>
        </p:nvSpPr>
        <p:spPr>
          <a:xfrm>
            <a:off x="4480560" y="2560320"/>
            <a:ext cx="3200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Boîtier ESP8266 : température, humidité, gaz, présence. L'IA prédictive voit la dérive avant le seuil critique.</a:t>
            </a:r>
            <a:endParaRPr lang="en-US" sz="1700" dirty="0"/>
          </a:p>
        </p:txBody>
      </p:sp>
      <p:sp>
        <p:nvSpPr>
          <p:cNvPr id="13" name="menace-3-fond"/>
          <p:cNvSpPr/>
          <p:nvPr/>
        </p:nvSpPr>
        <p:spPr>
          <a:xfrm>
            <a:off x="8046720" y="1417320"/>
            <a:ext cx="3566160" cy="3063240"/>
          </a:xfrm>
          <a:prstGeom prst="roundRect">
            <a:avLst>
              <a:gd name="adj" fmla="val 17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menace-3-entete"/>
          <p:cNvSpPr/>
          <p:nvPr/>
        </p:nvSpPr>
        <p:spPr>
          <a:xfrm>
            <a:off x="8046720" y="1417320"/>
            <a:ext cx="3566160" cy="1005840"/>
          </a:xfrm>
          <a:prstGeom prst="roundRect">
            <a:avLst>
              <a:gd name="adj" fmla="val 545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menace-3-raccord"/>
          <p:cNvSpPr/>
          <p:nvPr/>
        </p:nvSpPr>
        <p:spPr>
          <a:xfrm>
            <a:off x="8046720" y="2313432"/>
            <a:ext cx="3566160" cy="109728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menace-3-titre"/>
          <p:cNvSpPr txBox="1"/>
          <p:nvPr/>
        </p:nvSpPr>
        <p:spPr>
          <a:xfrm>
            <a:off x="8229600" y="1490472"/>
            <a:ext cx="3200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CYBERATTAQUE</a:t>
            </a:r>
            <a:endParaRPr lang="en-US" sz="11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Déstabilisation réseau</a:t>
            </a:r>
            <a:endParaRPr lang="en-US" sz="1100" dirty="0"/>
          </a:p>
        </p:txBody>
      </p:sp>
      <p:sp>
        <p:nvSpPr>
          <p:cNvPr id="17" name="menace-3-texte"/>
          <p:cNvSpPr txBox="1"/>
          <p:nvPr/>
        </p:nvSpPr>
        <p:spPr>
          <a:xfrm>
            <a:off x="8229600" y="2560320"/>
            <a:ext cx="3200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MQTT sur TLS avec CA embarqué, HTTPS, pare-feu UFW, SSH par clé, réseau segmenté en 4 VLAN.</a:t>
            </a:r>
            <a:endParaRPr lang="en-US" sz="1700" dirty="0"/>
          </a:p>
        </p:txBody>
      </p:sp>
      <p:sp>
        <p:nvSpPr>
          <p:cNvPr id="18" name="mission-fond"/>
          <p:cNvSpPr/>
          <p:nvPr/>
        </p:nvSpPr>
        <p:spPr>
          <a:xfrm>
            <a:off x="548640" y="4800600"/>
            <a:ext cx="11064240" cy="685800"/>
          </a:xfrm>
          <a:prstGeom prst="roundRect">
            <a:avLst>
              <a:gd name="adj" fmla="val 6667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9" name="mission"/>
          <p:cNvSpPr txBox="1"/>
          <p:nvPr/>
        </p:nvSpPr>
        <p:spPr>
          <a:xfrm>
            <a:off x="777240" y="48006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Mission 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un boîtier autonome relié de façon chiffrée à un centre de commandement, avec une IA qui décide.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Variante retenue : Edge-to-Server distribuée</a:t>
            </a:r>
            <a:endParaRPr lang="en-US" sz="3200" dirty="0"/>
          </a:p>
        </p:txBody>
      </p:sp>
      <p:sp>
        <p:nvSpPr>
          <p:cNvPr id="3" name="zone-edge"/>
          <p:cNvSpPr/>
          <p:nvPr/>
        </p:nvSpPr>
        <p:spPr>
          <a:xfrm>
            <a:off x="548640" y="1325880"/>
            <a:ext cx="2377440" cy="4023360"/>
          </a:xfrm>
          <a:prstGeom prst="roundRect">
            <a:avLst>
              <a:gd name="adj" fmla="val 2308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4" name="zone-edge-titre"/>
          <p:cNvSpPr txBox="1"/>
          <p:nvPr/>
        </p:nvSpPr>
        <p:spPr>
          <a:xfrm>
            <a:off x="685800" y="1371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4"/>
                </a:solidFill>
              </a:rPr>
              <a:t>TABLE</a:t>
            </a:r>
            <a:endParaRPr lang="en-US" sz="1100" dirty="0"/>
          </a:p>
        </p:txBody>
      </p:sp>
      <p:sp>
        <p:nvSpPr>
          <p:cNvPr id="5" name="zone-serveur"/>
          <p:cNvSpPr/>
          <p:nvPr/>
        </p:nvSpPr>
        <p:spPr>
          <a:xfrm>
            <a:off x="3154680" y="1325880"/>
            <a:ext cx="8458200" cy="4023360"/>
          </a:xfrm>
          <a:prstGeom prst="roundRect">
            <a:avLst>
              <a:gd name="adj" fmla="val 1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zone-serveur-titre"/>
          <p:cNvSpPr txBox="1"/>
          <p:nvPr/>
        </p:nvSpPr>
        <p:spPr>
          <a:xfrm>
            <a:off x="329184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5"/>
                </a:solidFill>
              </a:rPr>
              <a:t>CENTRE DE COMMANDEMENT · PROXMOX · 4 VLAN</a:t>
            </a:r>
            <a:endParaRPr lang="en-US" sz="1100" dirty="0"/>
          </a:p>
        </p:txBody>
      </p:sp>
      <p:sp>
        <p:nvSpPr>
          <p:cNvPr id="7" name="boitier-fond"/>
          <p:cNvSpPr/>
          <p:nvPr/>
        </p:nvSpPr>
        <p:spPr>
          <a:xfrm>
            <a:off x="731520" y="1828800"/>
            <a:ext cx="2011680" cy="1188720"/>
          </a:xfrm>
          <a:prstGeom prst="roundRect">
            <a:avLst>
              <a:gd name="adj" fmla="val 461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boitier-texte"/>
          <p:cNvSpPr txBox="1"/>
          <p:nvPr/>
        </p:nvSpPr>
        <p:spPr>
          <a:xfrm>
            <a:off x="868680" y="182880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Boîtier ESP8266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DHT22 · MQ-135 · PIR · OLED · buzzer · LED</a:t>
            </a:r>
            <a:endParaRPr lang="en-US" sz="1600" dirty="0"/>
          </a:p>
        </p:txBody>
      </p:sp>
      <p:sp>
        <p:nvSpPr>
          <p:cNvPr id="9" name="robot-fond"/>
          <p:cNvSpPr/>
          <p:nvPr/>
        </p:nvSpPr>
        <p:spPr>
          <a:xfrm>
            <a:off x="731520" y="3886200"/>
            <a:ext cx="2011680" cy="1188720"/>
          </a:xfrm>
          <a:prstGeom prst="roundRect">
            <a:avLst>
              <a:gd name="adj" fmla="val 461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robot-texte"/>
          <p:cNvSpPr txBox="1"/>
          <p:nvPr/>
        </p:nvSpPr>
        <p:spPr>
          <a:xfrm>
            <a:off x="868680" y="388620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Robot Yanshee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Caméra HD · riposte</a:t>
            </a:r>
            <a:endParaRPr lang="en-US" sz="1600" dirty="0"/>
          </a:p>
        </p:txBody>
      </p:sp>
      <p:sp>
        <p:nvSpPr>
          <p:cNvPr id="11" name="mosquitto-fond"/>
          <p:cNvSpPr/>
          <p:nvPr/>
        </p:nvSpPr>
        <p:spPr>
          <a:xfrm>
            <a:off x="3474720" y="1828800"/>
            <a:ext cx="2286000" cy="118872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mosquitto-texte"/>
          <p:cNvSpPr txBox="1"/>
          <p:nvPr/>
        </p:nvSpPr>
        <p:spPr>
          <a:xfrm>
            <a:off x="3611880" y="18288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Mosquitto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MQTT/TLS 8883</a:t>
            </a:r>
            <a:endParaRPr lang="en-US" sz="1600" dirty="0"/>
          </a:p>
        </p:txBody>
      </p:sp>
      <p:sp>
        <p:nvSpPr>
          <p:cNvPr id="13" name="yolo-fond"/>
          <p:cNvSpPr/>
          <p:nvPr/>
        </p:nvSpPr>
        <p:spPr>
          <a:xfrm>
            <a:off x="3474720" y="3886200"/>
            <a:ext cx="2286000" cy="118872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yolo-texte"/>
          <p:cNvSpPr txBox="1"/>
          <p:nvPr/>
        </p:nvSpPr>
        <p:spPr>
          <a:xfrm>
            <a:off x="3611880" y="38862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IA vision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YOLO26n · 640 px</a:t>
            </a:r>
            <a:endParaRPr lang="en-US" sz="1600" dirty="0"/>
          </a:p>
        </p:txBody>
      </p:sp>
      <p:sp>
        <p:nvSpPr>
          <p:cNvPr id="15" name="api-fond"/>
          <p:cNvSpPr/>
          <p:nvPr/>
        </p:nvSpPr>
        <p:spPr>
          <a:xfrm>
            <a:off x="6263640" y="1828800"/>
            <a:ext cx="2286000" cy="118872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api-texte"/>
          <p:cNvSpPr txBox="1"/>
          <p:nvPr/>
        </p:nvSpPr>
        <p:spPr>
          <a:xfrm>
            <a:off x="6400800" y="18288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API FastAPI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REST + WebSocket</a:t>
            </a:r>
            <a:endParaRPr lang="en-US" sz="1600" dirty="0"/>
          </a:p>
        </p:txBody>
      </p:sp>
      <p:sp>
        <p:nvSpPr>
          <p:cNvPr id="17" name="ia-pred-fond"/>
          <p:cNvSpPr/>
          <p:nvPr/>
        </p:nvSpPr>
        <p:spPr>
          <a:xfrm>
            <a:off x="6263640" y="3886200"/>
            <a:ext cx="2286000" cy="118872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ia-pred-texte"/>
          <p:cNvSpPr txBox="1"/>
          <p:nvPr/>
        </p:nvSpPr>
        <p:spPr>
          <a:xfrm>
            <a:off x="6400800" y="38862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IA prédictive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Isolation + Random Forest</a:t>
            </a:r>
            <a:endParaRPr lang="en-US" sz="1600" dirty="0"/>
          </a:p>
        </p:txBody>
      </p:sp>
      <p:sp>
        <p:nvSpPr>
          <p:cNvPr id="19" name="galera-fond"/>
          <p:cNvSpPr/>
          <p:nvPr/>
        </p:nvSpPr>
        <p:spPr>
          <a:xfrm>
            <a:off x="9052560" y="1828800"/>
            <a:ext cx="2331720" cy="118872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0" name="galera-texte"/>
          <p:cNvSpPr txBox="1"/>
          <p:nvPr/>
        </p:nvSpPr>
        <p:spPr>
          <a:xfrm>
            <a:off x="9189720" y="18288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Galera ×3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via VIP HAProxy</a:t>
            </a:r>
            <a:endParaRPr lang="en-US" sz="1600" dirty="0"/>
          </a:p>
        </p:txBody>
      </p:sp>
      <p:sp>
        <p:nvSpPr>
          <p:cNvPr id="21" name="dashboard-fond"/>
          <p:cNvSpPr/>
          <p:nvPr/>
        </p:nvSpPr>
        <p:spPr>
          <a:xfrm>
            <a:off x="9052560" y="3886200"/>
            <a:ext cx="2331720" cy="1188720"/>
          </a:xfrm>
          <a:prstGeom prst="roundRect">
            <a:avLst>
              <a:gd name="adj" fmla="val 461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dashboard-texte"/>
          <p:cNvSpPr txBox="1"/>
          <p:nvPr/>
        </p:nvSpPr>
        <p:spPr>
          <a:xfrm>
            <a:off x="9189720" y="38862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Dashboard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React · HTTPS / WSS</a:t>
            </a:r>
            <a:endParaRPr lang="en-US" sz="1600" dirty="0"/>
          </a:p>
        </p:txBody>
      </p:sp>
      <p:sp>
        <p:nvSpPr>
          <p:cNvPr id="23" name="fleche-telemetrie"/>
          <p:cNvSpPr/>
          <p:nvPr/>
        </p:nvSpPr>
        <p:spPr>
          <a:xfrm>
            <a:off x="2743200" y="2423160"/>
            <a:ext cx="713232" cy="0"/>
          </a:xfrm>
          <a:prstGeom prst="line">
            <a:avLst/>
          </a:prstGeom>
          <a:noFill/>
          <a:ln w="44450">
            <a:solidFill>
              <a:srgbClr val="C8372B"/>
            </a:solidFill>
            <a:prstDash val="solid"/>
            <a:tailEnd type="triangle"/>
          </a:ln>
        </p:spPr>
      </p:sp>
      <p:sp>
        <p:nvSpPr>
          <p:cNvPr id="24" name="fleche-video"/>
          <p:cNvSpPr/>
          <p:nvPr/>
        </p:nvSpPr>
        <p:spPr>
          <a:xfrm>
            <a:off x="2743200" y="4480560"/>
            <a:ext cx="713232" cy="0"/>
          </a:xfrm>
          <a:prstGeom prst="line">
            <a:avLst/>
          </a:prstGeom>
          <a:noFill/>
          <a:ln w="3175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5" name="fleche-ingestion"/>
          <p:cNvSpPr/>
          <p:nvPr/>
        </p:nvSpPr>
        <p:spPr>
          <a:xfrm>
            <a:off x="5760720" y="2423160"/>
            <a:ext cx="484632" cy="0"/>
          </a:xfrm>
          <a:prstGeom prst="line">
            <a:avLst/>
          </a:prstGeom>
          <a:noFill/>
          <a:ln w="44450">
            <a:solidFill>
              <a:srgbClr val="C8372B"/>
            </a:solidFill>
            <a:prstDash val="solid"/>
            <a:tailEnd type="triangle"/>
          </a:ln>
        </p:spPr>
      </p:sp>
      <p:sp>
        <p:nvSpPr>
          <p:cNvPr id="26" name="fleche-detections"/>
          <p:cNvSpPr/>
          <p:nvPr/>
        </p:nvSpPr>
        <p:spPr>
          <a:xfrm flipV="1">
            <a:off x="5760720" y="3063240"/>
            <a:ext cx="502920" cy="822960"/>
          </a:xfrm>
          <a:prstGeom prst="line">
            <a:avLst/>
          </a:prstGeom>
          <a:noFill/>
          <a:ln w="31750">
            <a:solidFill>
              <a:srgbClr val="C8372B"/>
            </a:solidFill>
            <a:prstDash val="solid"/>
            <a:tailEnd type="triangle"/>
          </a:ln>
        </p:spPr>
      </p:sp>
      <p:sp>
        <p:nvSpPr>
          <p:cNvPr id="27" name="fleche-anomalies"/>
          <p:cNvSpPr/>
          <p:nvPr/>
        </p:nvSpPr>
        <p:spPr>
          <a:xfrm>
            <a:off x="7406640" y="3017520"/>
            <a:ext cx="0" cy="850392"/>
          </a:xfrm>
          <a:prstGeom prst="line">
            <a:avLst/>
          </a:prstGeom>
          <a:noFill/>
          <a:ln w="31750">
            <a:solidFill>
              <a:srgbClr val="C8372B"/>
            </a:solidFill>
            <a:prstDash val="solid"/>
            <a:tailEnd type="triangle"/>
          </a:ln>
        </p:spPr>
      </p:sp>
      <p:sp>
        <p:nvSpPr>
          <p:cNvPr id="28" name="fleche-sql"/>
          <p:cNvSpPr/>
          <p:nvPr/>
        </p:nvSpPr>
        <p:spPr>
          <a:xfrm>
            <a:off x="8549640" y="2423160"/>
            <a:ext cx="484632" cy="0"/>
          </a:xfrm>
          <a:prstGeom prst="line">
            <a:avLst/>
          </a:prstGeom>
          <a:noFill/>
          <a:ln w="3175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9" name="fleche-ws"/>
          <p:cNvSpPr/>
          <p:nvPr/>
        </p:nvSpPr>
        <p:spPr>
          <a:xfrm>
            <a:off x="8549640" y="3017520"/>
            <a:ext cx="502920" cy="868680"/>
          </a:xfrm>
          <a:prstGeom prst="line">
            <a:avLst/>
          </a:prstGeom>
          <a:noFill/>
          <a:ln w="3175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30" name="precision-1"/>
          <p:cNvSpPr txBox="1"/>
          <p:nvPr/>
        </p:nvSpPr>
        <p:spPr>
          <a:xfrm>
            <a:off x="548640" y="55321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Option B du sujet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PC Serveur Local réparti sur des VM Proxmox</a:t>
            </a:r>
            <a:endParaRPr lang="en-US" sz="1300" dirty="0"/>
          </a:p>
        </p:txBody>
      </p:sp>
      <p:sp>
        <p:nvSpPr>
          <p:cNvPr id="31" name="precision-2"/>
          <p:cNvSpPr txBox="1"/>
          <p:nvPr/>
        </p:nvSpPr>
        <p:spPr>
          <a:xfrm>
            <a:off x="4297680" y="55321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Caméra du robot Yanshee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à la place de la webcam USB, validée par les coachs</a:t>
            </a:r>
            <a:endParaRPr lang="en-US" sz="1300" dirty="0"/>
          </a:p>
        </p:txBody>
      </p:sp>
      <p:sp>
        <p:nvSpPr>
          <p:cNvPr id="32" name="precision-3"/>
          <p:cNvSpPr txBox="1"/>
          <p:nvPr/>
        </p:nvSpPr>
        <p:spPr>
          <a:xfrm>
            <a:off x="8046720" y="55321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Tout passe par le broker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sauf la vidéo, en MJPEG direct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chemeClr val="accent1"/>
                </a:solidFill>
              </a:rPr>
              <a:t>TEASER · 60 SECONDES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554480"/>
            <a:ext cx="8686800" cy="21945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bg1"/>
                </a:solidFill>
              </a:rPr>
              <a:t>Sentinel Drop</a:t>
            </a:r>
            <a:endParaRPr lang="en-US" sz="6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93192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60 secondes · format vertical</a:t>
            </a:r>
            <a:endParaRPr lang="en-US" sz="2400" dirty="0"/>
          </a:p>
        </p:txBody>
      </p:sp>
      <p:sp>
        <p:nvSpPr>
          <p:cNvPr id="5" name="bouton-lecture"/>
          <p:cNvSpPr/>
          <p:nvPr/>
        </p:nvSpPr>
        <p:spPr>
          <a:xfrm>
            <a:off x="9326880" y="2011680"/>
            <a:ext cx="1828800" cy="1828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icone-lecture"/>
          <p:cNvSpPr/>
          <p:nvPr/>
        </p:nvSpPr>
        <p:spPr>
          <a:xfrm rot="5400000">
            <a:off x="9921240" y="2514600"/>
            <a:ext cx="777240" cy="822960"/>
          </a:xfrm>
          <a:prstGeom prst="triangl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Démo live : ce que vous allez voir</a:t>
            </a:r>
            <a:endParaRPr lang="en-US" sz="3200" dirty="0"/>
          </a:p>
        </p:txBody>
      </p:sp>
      <p:sp>
        <p:nvSpPr>
          <p:cNvPr id="3" name="etape-1-num"/>
          <p:cNvSpPr txBox="1"/>
          <p:nvPr/>
        </p:nvSpPr>
        <p:spPr>
          <a:xfrm>
            <a:off x="548640" y="1463040"/>
            <a:ext cx="50292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4" name="etape-1"/>
          <p:cNvSpPr txBox="1"/>
          <p:nvPr/>
        </p:nvSpPr>
        <p:spPr>
          <a:xfrm>
            <a:off x="1234440" y="1417320"/>
            <a:ext cx="4663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Le boîtier vit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OLED : IP, mesures, MQTT connecté. Les courbes bougent en direct sur le dashboard.</a:t>
            </a:r>
            <a:endParaRPr lang="en-US" sz="1800" dirty="0"/>
          </a:p>
        </p:txBody>
      </p:sp>
      <p:sp>
        <p:nvSpPr>
          <p:cNvPr id="5" name="etape-2-num"/>
          <p:cNvSpPr txBox="1"/>
          <p:nvPr/>
        </p:nvSpPr>
        <p:spPr>
          <a:xfrm>
            <a:off x="6172200" y="1463040"/>
            <a:ext cx="50292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6" name="etape-2"/>
          <p:cNvSpPr txBox="1"/>
          <p:nvPr/>
        </p:nvSpPr>
        <p:spPr>
          <a:xfrm>
            <a:off x="6858000" y="1417320"/>
            <a:ext cx="4663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Commande à distance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Un clic sur le dashboard : buzzer et LED du boîtier en moins d'une seconde.</a:t>
            </a:r>
            <a:endParaRPr lang="en-US" sz="1800" dirty="0"/>
          </a:p>
        </p:txBody>
      </p:sp>
      <p:sp>
        <p:nvSpPr>
          <p:cNvPr id="7" name="etape-3-num"/>
          <p:cNvSpPr txBox="1"/>
          <p:nvPr/>
        </p:nvSpPr>
        <p:spPr>
          <a:xfrm>
            <a:off x="548640" y="3017520"/>
            <a:ext cx="50292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8" name="etape-3"/>
          <p:cNvSpPr txBox="1"/>
          <p:nvPr/>
        </p:nvSpPr>
        <p:spPr>
          <a:xfrm>
            <a:off x="1234440" y="2971800"/>
            <a:ext cx="4663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Dérive détectée avant le seuil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Chauffe lente du DHT22 : la jauge IA passe au-dessus de 1, l'OLED affiche encore « normal ».</a:t>
            </a:r>
            <a:endParaRPr lang="en-US" sz="1800" dirty="0"/>
          </a:p>
        </p:txBody>
      </p:sp>
      <p:sp>
        <p:nvSpPr>
          <p:cNvPr id="9" name="etape-4-num"/>
          <p:cNvSpPr txBox="1"/>
          <p:nvPr/>
        </p:nvSpPr>
        <p:spPr>
          <a:xfrm>
            <a:off x="6172200" y="3017520"/>
            <a:ext cx="50292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0" name="etape-4"/>
          <p:cNvSpPr txBox="1"/>
          <p:nvPr/>
        </p:nvSpPr>
        <p:spPr>
          <a:xfrm>
            <a:off x="6858000" y="2971800"/>
            <a:ext cx="4663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Intrus repéré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Une personne devant le robot : détection YOLO, photo, alerte, riposte.</a:t>
            </a:r>
            <a:endParaRPr lang="en-US" sz="1800" dirty="0"/>
          </a:p>
        </p:txBody>
      </p:sp>
      <p:sp>
        <p:nvSpPr>
          <p:cNvPr id="11" name="etape-5-num"/>
          <p:cNvSpPr txBox="1"/>
          <p:nvPr/>
        </p:nvSpPr>
        <p:spPr>
          <a:xfrm>
            <a:off x="548640" y="4572000"/>
            <a:ext cx="50292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12" name="etape-5"/>
          <p:cNvSpPr txBox="1"/>
          <p:nvPr/>
        </p:nvSpPr>
        <p:spPr>
          <a:xfrm>
            <a:off x="1234440" y="4526280"/>
            <a:ext cx="4663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Chiffrement prouvé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Wireshark sur le flux MQTT : trafic illisible.</a:t>
            </a:r>
            <a:endParaRPr lang="en-US" sz="1800" dirty="0"/>
          </a:p>
        </p:txBody>
      </p:sp>
      <p:sp>
        <p:nvSpPr>
          <p:cNvPr id="13" name="etape-6-num"/>
          <p:cNvSpPr txBox="1"/>
          <p:nvPr/>
        </p:nvSpPr>
        <p:spPr>
          <a:xfrm>
            <a:off x="6172200" y="4572000"/>
            <a:ext cx="50292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6</a:t>
            </a:r>
            <a:endParaRPr lang="en-US" sz="1400" dirty="0"/>
          </a:p>
        </p:txBody>
      </p:sp>
      <p:sp>
        <p:nvSpPr>
          <p:cNvPr id="14" name="etape-6"/>
          <p:cNvSpPr txBox="1"/>
          <p:nvPr/>
        </p:nvSpPr>
        <p:spPr>
          <a:xfrm>
            <a:off x="6858000" y="4526280"/>
            <a:ext cx="4663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Serveur durci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ufw status, connexion SSH par mot de passe refusée.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 boîtier : capter, afficher, alerter</a:t>
            </a:r>
            <a:endParaRPr lang="en-US" sz="3200" dirty="0"/>
          </a:p>
        </p:txBody>
      </p:sp>
      <p:graphicFrame>
        <p:nvGraphicFramePr>
          <p:cNvPr id="7" name="tableau-capteur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7665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005840"/>
                <a:gridCol w="40233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Composant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Broche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Rôle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181F"/>
                          </a:solidFill>
                        </a:rPr>
                        <a:t>DHT22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D2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</a:rPr>
                        <a:t>température, humidité · toutes les 2 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181F"/>
                          </a:solidFill>
                        </a:rPr>
                        <a:t>MQ-135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</a:rPr>
                        <a:t>gaz · référence adaptative, chauffe 60 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181F"/>
                          </a:solidFill>
                        </a:rPr>
                        <a:t>PIR HC-SR501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D5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</a:rPr>
                        <a:t>présence · calibration 30 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181F"/>
                          </a:solidFill>
                        </a:rPr>
                        <a:t>OLED 0,96"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D6/D7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</a:rPr>
                        <a:t>IP, mesures, état MQTT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181F"/>
                          </a:solidFill>
                        </a:rPr>
                        <a:t>Buzzer · LED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D0/D1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</a:rPr>
                        <a:t>alarme sur commande uniquement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4" name="stat-tls-fond"/>
          <p:cNvSpPr/>
          <p:nvPr/>
        </p:nvSpPr>
        <p:spPr>
          <a:xfrm>
            <a:off x="7726680" y="1417320"/>
            <a:ext cx="3886200" cy="1325880"/>
          </a:xfrm>
          <a:prstGeom prst="roundRect">
            <a:avLst>
              <a:gd name="adj" fmla="val 413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stat-tls-texte"/>
          <p:cNvSpPr txBox="1"/>
          <p:nvPr/>
        </p:nvSpPr>
        <p:spPr>
          <a:xfrm>
            <a:off x="7909560" y="1527048"/>
            <a:ext cx="352044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</a:rPr>
              <a:t>TLS 8883</a:t>
            </a:r>
            <a:endParaRPr lang="en-US" sz="3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MQTT chiffré, CA embarqué, chaîne du broker vérifiée</a:t>
            </a:r>
            <a:endParaRPr lang="en-US" sz="3600" dirty="0"/>
          </a:p>
        </p:txBody>
      </p:sp>
      <p:sp>
        <p:nvSpPr>
          <p:cNvPr id="6" name="stat-1hz-fond"/>
          <p:cNvSpPr/>
          <p:nvPr/>
        </p:nvSpPr>
        <p:spPr>
          <a:xfrm>
            <a:off x="7726680" y="2880360"/>
            <a:ext cx="3886200" cy="1325880"/>
          </a:xfrm>
          <a:prstGeom prst="roundRect">
            <a:avLst>
              <a:gd name="adj" fmla="val 413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stat-1hz-texte"/>
          <p:cNvSpPr txBox="1"/>
          <p:nvPr/>
        </p:nvSpPr>
        <p:spPr>
          <a:xfrm>
            <a:off x="7909560" y="2990088"/>
            <a:ext cx="352044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</a:rPr>
              <a:t>1 Hz</a:t>
            </a:r>
            <a:endParaRPr lang="en-US" sz="3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télémétrie JSON, Last Will « offline » si le boîtier tombe</a:t>
            </a:r>
            <a:endParaRPr lang="en-US" sz="3600" dirty="0"/>
          </a:p>
        </p:txBody>
      </p:sp>
      <p:sp>
        <p:nvSpPr>
          <p:cNvPr id="8" name="stat-delay-fond"/>
          <p:cNvSpPr/>
          <p:nvPr/>
        </p:nvSpPr>
        <p:spPr>
          <a:xfrm>
            <a:off x="7726680" y="4343400"/>
            <a:ext cx="3886200" cy="1325880"/>
          </a:xfrm>
          <a:prstGeom prst="roundRect">
            <a:avLst>
              <a:gd name="adj" fmla="val 413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stat-delay-texte"/>
          <p:cNvSpPr txBox="1"/>
          <p:nvPr/>
        </p:nvSpPr>
        <p:spPr>
          <a:xfrm>
            <a:off x="7909560" y="4453128"/>
            <a:ext cx="352044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</a:rPr>
              <a:t>0 delay()</a:t>
            </a:r>
            <a:endParaRPr lang="en-US" sz="3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boucle non bloquante : capteurs actifs même sans réseau</a:t>
            </a:r>
            <a:endParaRPr lang="en-US" sz="3600" dirty="0"/>
          </a:p>
        </p:txBody>
      </p:sp>
      <p:sp>
        <p:nvSpPr>
          <p:cNvPr id="10" name="note-firmware"/>
          <p:cNvSpPr txBox="1"/>
          <p:nvPr/>
        </p:nvSpPr>
        <p:spPr>
          <a:xfrm>
            <a:off x="548640" y="512064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Firmware C++ PlatformIO · RAM 39 % · Flash 40 % · le boîtier ne déclenche aucune alarme seul : c'est le centre de commandement qui décide.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IA de vision : voir et riposter</a:t>
            </a:r>
            <a:endParaRPr lang="en-US" sz="3200" dirty="0"/>
          </a:p>
        </p:txBody>
      </p:sp>
      <p:sp>
        <p:nvSpPr>
          <p:cNvPr id="3" name="vision-etape-1-fond"/>
          <p:cNvSpPr/>
          <p:nvPr/>
        </p:nvSpPr>
        <p:spPr>
          <a:xfrm>
            <a:off x="548640" y="1463040"/>
            <a:ext cx="2514600" cy="210312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vision-etape-1-num"/>
          <p:cNvSpPr txBox="1"/>
          <p:nvPr/>
        </p:nvSpPr>
        <p:spPr>
          <a:xfrm>
            <a:off x="731520" y="1645920"/>
            <a:ext cx="502920" cy="384048"/>
          </a:xfrm>
          <a:prstGeom prst="roundRect">
            <a:avLst>
              <a:gd name="adj" fmla="val 11905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vision-etape-1"/>
          <p:cNvSpPr txBox="1"/>
          <p:nvPr/>
        </p:nvSpPr>
        <p:spPr>
          <a:xfrm>
            <a:off x="731520" y="21945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Caméra du robot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640×480 · 25 i/s, encodée par le GPU du robot</a:t>
            </a:r>
            <a:endParaRPr lang="en-US" sz="1800" dirty="0"/>
          </a:p>
        </p:txBody>
      </p:sp>
      <p:sp>
        <p:nvSpPr>
          <p:cNvPr id="6" name="vision-fleche-1"/>
          <p:cNvSpPr/>
          <p:nvPr/>
        </p:nvSpPr>
        <p:spPr>
          <a:xfrm>
            <a:off x="3090672" y="2651760"/>
            <a:ext cx="274320" cy="0"/>
          </a:xfrm>
          <a:prstGeom prst="line">
            <a:avLst/>
          </a:prstGeom>
          <a:noFill/>
          <a:ln w="31750">
            <a:solidFill>
              <a:srgbClr val="C8372B"/>
            </a:solidFill>
            <a:prstDash val="solid"/>
            <a:tailEnd type="triangle"/>
          </a:ln>
        </p:spPr>
      </p:sp>
      <p:sp>
        <p:nvSpPr>
          <p:cNvPr id="7" name="vision-etape-2-fond"/>
          <p:cNvSpPr/>
          <p:nvPr/>
        </p:nvSpPr>
        <p:spPr>
          <a:xfrm>
            <a:off x="3383280" y="1463040"/>
            <a:ext cx="2514600" cy="2103120"/>
          </a:xfrm>
          <a:prstGeom prst="roundRect">
            <a:avLst>
              <a:gd name="adj" fmla="val 260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vision-etape-2-num"/>
          <p:cNvSpPr txBox="1"/>
          <p:nvPr/>
        </p:nvSpPr>
        <p:spPr>
          <a:xfrm>
            <a:off x="3566160" y="1645920"/>
            <a:ext cx="50292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vision-etape-2"/>
          <p:cNvSpPr txBox="1"/>
          <p:nvPr/>
        </p:nvSpPr>
        <p:spPr>
          <a:xfrm>
            <a:off x="3566160" y="21945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YOLO26n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classe « person » uniquement, entrée 640 px, confiance 0,40</a:t>
            </a:r>
            <a:endParaRPr lang="en-US" sz="1800" dirty="0"/>
          </a:p>
        </p:txBody>
      </p:sp>
      <p:sp>
        <p:nvSpPr>
          <p:cNvPr id="10" name="vision-fleche-2"/>
          <p:cNvSpPr/>
          <p:nvPr/>
        </p:nvSpPr>
        <p:spPr>
          <a:xfrm>
            <a:off x="5925312" y="2651760"/>
            <a:ext cx="274320" cy="0"/>
          </a:xfrm>
          <a:prstGeom prst="line">
            <a:avLst/>
          </a:prstGeom>
          <a:noFill/>
          <a:ln w="31750">
            <a:solidFill>
              <a:srgbClr val="C8372B"/>
            </a:solidFill>
            <a:prstDash val="solid"/>
            <a:tailEnd type="triangle"/>
          </a:ln>
        </p:spPr>
      </p:sp>
      <p:sp>
        <p:nvSpPr>
          <p:cNvPr id="11" name="vision-etape-3-fond"/>
          <p:cNvSpPr/>
          <p:nvPr/>
        </p:nvSpPr>
        <p:spPr>
          <a:xfrm>
            <a:off x="6217920" y="1463040"/>
            <a:ext cx="2514600" cy="210312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vision-etape-3-num"/>
          <p:cNvSpPr txBox="1"/>
          <p:nvPr/>
        </p:nvSpPr>
        <p:spPr>
          <a:xfrm>
            <a:off x="6400800" y="1645920"/>
            <a:ext cx="502920" cy="384048"/>
          </a:xfrm>
          <a:prstGeom prst="roundRect">
            <a:avLst>
              <a:gd name="adj" fmla="val 11905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vision-etape-3"/>
          <p:cNvSpPr txBox="1"/>
          <p:nvPr/>
        </p:nvSpPr>
        <p:spPr>
          <a:xfrm>
            <a:off x="6400800" y="21945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Alerte + preuve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compteur, photo JPEG en base, alerte d'intrusion</a:t>
            </a:r>
            <a:endParaRPr lang="en-US" sz="1800" dirty="0"/>
          </a:p>
        </p:txBody>
      </p:sp>
      <p:sp>
        <p:nvSpPr>
          <p:cNvPr id="14" name="vision-fleche-3"/>
          <p:cNvSpPr/>
          <p:nvPr/>
        </p:nvSpPr>
        <p:spPr>
          <a:xfrm>
            <a:off x="8759952" y="2651760"/>
            <a:ext cx="274320" cy="0"/>
          </a:xfrm>
          <a:prstGeom prst="line">
            <a:avLst/>
          </a:prstGeom>
          <a:noFill/>
          <a:ln w="31750">
            <a:solidFill>
              <a:srgbClr val="C8372B"/>
            </a:solidFill>
            <a:prstDash val="solid"/>
            <a:tailEnd type="triangle"/>
          </a:ln>
        </p:spPr>
      </p:sp>
      <p:sp>
        <p:nvSpPr>
          <p:cNvPr id="15" name="vision-etape-4-fond"/>
          <p:cNvSpPr/>
          <p:nvPr/>
        </p:nvSpPr>
        <p:spPr>
          <a:xfrm>
            <a:off x="9052560" y="1463040"/>
            <a:ext cx="2514600" cy="210312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vision-etape-4-num"/>
          <p:cNvSpPr txBox="1"/>
          <p:nvPr/>
        </p:nvSpPr>
        <p:spPr>
          <a:xfrm>
            <a:off x="9235440" y="1645920"/>
            <a:ext cx="502920" cy="384048"/>
          </a:xfrm>
          <a:prstGeom prst="roundRect">
            <a:avLst>
              <a:gd name="adj" fmla="val 11905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vision-etape-4"/>
          <p:cNvSpPr txBox="1"/>
          <p:nvPr/>
        </p:nvSpPr>
        <p:spPr>
          <a:xfrm>
            <a:off x="9235440" y="21945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Riposte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le robot lève les bras puis frappe, statut publié en MQTT</a:t>
            </a:r>
            <a:endParaRPr lang="en-US" sz="1800" dirty="0"/>
          </a:p>
        </p:txBody>
      </p:sp>
      <p:sp>
        <p:nvSpPr>
          <p:cNvPr id="18" name="stat-latence-fond"/>
          <p:cNvSpPr/>
          <p:nvPr/>
        </p:nvSpPr>
        <p:spPr>
          <a:xfrm>
            <a:off x="548640" y="3931920"/>
            <a:ext cx="3566160" cy="13716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tat-latence-texte"/>
          <p:cNvSpPr txBox="1"/>
          <p:nvPr/>
        </p:nvSpPr>
        <p:spPr>
          <a:xfrm>
            <a:off x="731520" y="4041648"/>
            <a:ext cx="3200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chemeClr val="tx1"/>
                </a:solidFill>
              </a:rPr>
              <a:t>&lt; 100 ms</a:t>
            </a:r>
            <a:endParaRPr lang="en-US" sz="3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objectif par trame (sujet), inférence CPU</a:t>
            </a:r>
            <a:endParaRPr lang="en-US" sz="3600" dirty="0"/>
          </a:p>
        </p:txBody>
      </p:sp>
      <p:sp>
        <p:nvSpPr>
          <p:cNvPr id="20" name="stat-photo-fond"/>
          <p:cNvSpPr/>
          <p:nvPr/>
        </p:nvSpPr>
        <p:spPr>
          <a:xfrm>
            <a:off x="4297680" y="3931920"/>
            <a:ext cx="3566160" cy="13716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tat-photo-texte"/>
          <p:cNvSpPr txBox="1"/>
          <p:nvPr/>
        </p:nvSpPr>
        <p:spPr>
          <a:xfrm>
            <a:off x="4480560" y="4041648"/>
            <a:ext cx="3200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chemeClr val="tx1"/>
                </a:solidFill>
              </a:rPr>
              <a:t>1 / 10 s</a:t>
            </a:r>
            <a:endParaRPr lang="en-US" sz="3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photo de preuve maximum : le broker n'est pas saturé</a:t>
            </a:r>
            <a:endParaRPr lang="en-US" sz="3600" dirty="0"/>
          </a:p>
        </p:txBody>
      </p:sp>
      <p:sp>
        <p:nvSpPr>
          <p:cNvPr id="22" name="stat-rebond-fond"/>
          <p:cNvSpPr/>
          <p:nvPr/>
        </p:nvSpPr>
        <p:spPr>
          <a:xfrm>
            <a:off x="8046720" y="3931920"/>
            <a:ext cx="3566160" cy="13716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stat-rebond-texte"/>
          <p:cNvSpPr txBox="1"/>
          <p:nvPr/>
        </p:nvSpPr>
        <p:spPr>
          <a:xfrm>
            <a:off x="8229600" y="4041648"/>
            <a:ext cx="3200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chemeClr val="tx1"/>
                </a:solidFill>
              </a:rPr>
              <a:t>5 s</a:t>
            </a:r>
            <a:endParaRPr lang="en-US" sz="3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anti-rebond entre deux alertes ou ripostes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IA prédictive : la dérive vue avant le seuil</a:t>
            </a:r>
            <a:endParaRPr lang="en-US" sz="3200" dirty="0"/>
          </a:p>
        </p:txBody>
      </p:sp>
      <p:graphicFrame>
        <p:nvGraphicFramePr>
          <p:cNvPr id="3" name="graphique-avance" descr=""/>
          <p:cNvGraphicFramePr/>
          <p:nvPr/>
        </p:nvGraphicFramePr>
        <p:xfrm>
          <a:off x="548640" y="1371600"/>
          <a:ext cx="65836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note-firmware-aveugle"/>
          <p:cNvSpPr txBox="1"/>
          <p:nvPr/>
        </p:nvSpPr>
        <p:spPr>
          <a:xfrm>
            <a:off x="548640" y="50749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Firmware seul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 détecte jamais ces dérives lentes, sa référence les absorbe.</a:t>
            </a:r>
            <a:endParaRPr lang="en-US" sz="1400" dirty="0"/>
          </a:p>
        </p:txBody>
      </p:sp>
      <p:sp>
        <p:nvSpPr>
          <p:cNvPr id="5" name="stat-fp-fond"/>
          <p:cNvSpPr/>
          <p:nvPr/>
        </p:nvSpPr>
        <p:spPr>
          <a:xfrm>
            <a:off x="7589520" y="1371600"/>
            <a:ext cx="4023360" cy="1325880"/>
          </a:xfrm>
          <a:prstGeom prst="roundRect">
            <a:avLst>
              <a:gd name="adj" fmla="val 413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stat-fp-texte"/>
          <p:cNvSpPr txBox="1"/>
          <p:nvPr/>
        </p:nvSpPr>
        <p:spPr>
          <a:xfrm>
            <a:off x="7772400" y="1481328"/>
            <a:ext cx="365760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</a:rPr>
              <a:t>0,15 / h</a:t>
            </a:r>
            <a:endParaRPr lang="en-US" sz="3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fausses alertes sur 47 h de normal simulé</a:t>
            </a:r>
            <a:endParaRPr lang="en-US" sz="3600" dirty="0"/>
          </a:p>
        </p:txBody>
      </p:sp>
      <p:sp>
        <p:nvSpPr>
          <p:cNvPr id="7" name="stat-diag-fond"/>
          <p:cNvSpPr/>
          <p:nvPr/>
        </p:nvSpPr>
        <p:spPr>
          <a:xfrm>
            <a:off x="7589520" y="2834640"/>
            <a:ext cx="4023360" cy="1325880"/>
          </a:xfrm>
          <a:prstGeom prst="roundRect">
            <a:avLst>
              <a:gd name="adj" fmla="val 413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stat-diag-texte"/>
          <p:cNvSpPr txBox="1"/>
          <p:nvPr/>
        </p:nvSpPr>
        <p:spPr>
          <a:xfrm>
            <a:off x="7772400" y="2944368"/>
            <a:ext cx="365760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</a:rPr>
              <a:t>20 / 20</a:t>
            </a:r>
            <a:endParaRPr lang="en-US" sz="3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diagnostics corrects sur 4 scénarios sur 5</a:t>
            </a:r>
            <a:endParaRPr lang="en-US" sz="3600" dirty="0"/>
          </a:p>
        </p:txBody>
      </p:sp>
      <p:sp>
        <p:nvSpPr>
          <p:cNvPr id="9" name="modele-fond"/>
          <p:cNvSpPr/>
          <p:nvPr/>
        </p:nvSpPr>
        <p:spPr>
          <a:xfrm>
            <a:off x="7589520" y="4297680"/>
            <a:ext cx="4023360" cy="1325880"/>
          </a:xfrm>
          <a:prstGeom prst="roundRect">
            <a:avLst>
              <a:gd name="adj" fmla="val 4138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0" name="modele-texte"/>
          <p:cNvSpPr txBox="1"/>
          <p:nvPr/>
        </p:nvSpPr>
        <p:spPr>
          <a:xfrm>
            <a:off x="7772400" y="438912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Pas de if temp &gt; 40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Isolation Forest (le normal) + Random Forest (le diagnostic), un modèle par capteur.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 scénario de démo, seconde par seconde</a:t>
            </a:r>
            <a:endParaRPr lang="en-US" sz="3200" dirty="0"/>
          </a:p>
        </p:txBody>
      </p:sp>
      <p:pic>
        <p:nvPicPr>
          <p:cNvPr id="3" name="graphique-scenario" descr="/Users/felis/Documents/Workspace/Ecole/Master/Workshop-2026/Sentinel-X-Yanshee-defender-3000/livrables/sources/pptx/scenario_demo_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223760" cy="3108960"/>
          </a:xfrm>
          <a:prstGeom prst="rect">
            <a:avLst/>
          </a:prstGeom>
        </p:spPr>
      </p:pic>
      <p:sp>
        <p:nvSpPr>
          <p:cNvPr id="4" name="legende-scenario"/>
          <p:cNvSpPr txBox="1"/>
          <p:nvPr/>
        </p:nvSpPr>
        <p:spPr>
          <a:xfrm>
            <a:off x="548640" y="45262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Scénario simulé : chauffe lente + micro-dérive de gaz, incident à 10 min.</a:t>
            </a:r>
            <a:endParaRPr lang="en-US" sz="1100" dirty="0"/>
          </a:p>
        </p:txBody>
      </p:sp>
      <p:sp>
        <p:nvSpPr>
          <p:cNvPr id="5" name="preuve-1"/>
          <p:cNvSpPr txBox="1"/>
          <p:nvPr/>
        </p:nvSpPr>
        <p:spPr>
          <a:xfrm>
            <a:off x="8138160" y="137160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10 min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début de l'incident : le gaz monte lentement</a:t>
            </a:r>
            <a:endParaRPr lang="en-US" sz="2200" dirty="0"/>
          </a:p>
        </p:txBody>
      </p:sp>
      <p:sp>
        <p:nvSpPr>
          <p:cNvPr id="6" name="preuve-2"/>
          <p:cNvSpPr txBox="1"/>
          <p:nvPr/>
        </p:nvSpPr>
        <p:spPr>
          <a:xfrm>
            <a:off x="8138160" y="256032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≈ 11 min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l'indice de risque IA franchit 1 : alerte et diagnostic « fuite lente »</a:t>
            </a:r>
            <a:endParaRPr lang="en-US" sz="2200" dirty="0"/>
          </a:p>
        </p:txBody>
      </p:sp>
      <p:sp>
        <p:nvSpPr>
          <p:cNvPr id="7" name="preuve-3"/>
          <p:cNvSpPr txBox="1"/>
          <p:nvPr/>
        </p:nvSpPr>
        <p:spPr>
          <a:xfrm>
            <a:off x="8138160" y="374904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toujours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la référence du firmware suit le gaz : il reste à « normal »</a:t>
            </a:r>
            <a:endParaRPr lang="en-US" sz="2200" dirty="0"/>
          </a:p>
        </p:txBody>
      </p:sp>
      <p:sp>
        <p:nvSpPr>
          <p:cNvPr id="8" name="preuve-reelle-fond"/>
          <p:cNvSpPr/>
          <p:nvPr/>
        </p:nvSpPr>
        <p:spPr>
          <a:xfrm>
            <a:off x="548640" y="5120640"/>
            <a:ext cx="11064240" cy="640080"/>
          </a:xfrm>
          <a:prstGeom prst="roundRect">
            <a:avLst>
              <a:gd name="adj" fmla="val 7143"/>
            </a:avLst>
          </a:prstGeom>
          <a:solidFill>
            <a:srgbClr val="F1F4F6"/>
          </a:solidFill>
          <a:ln w="12700">
            <a:solidFill>
              <a:srgbClr val="F1F4F6"/>
            </a:solidFill>
            <a:prstDash val="solid"/>
          </a:ln>
        </p:spPr>
      </p:sp>
      <p:sp>
        <p:nvSpPr>
          <p:cNvPr id="9" name="preuve-reelle"/>
          <p:cNvSpPr txBox="1"/>
          <p:nvPr/>
        </p:nvSpPr>
        <p:spPr>
          <a:xfrm>
            <a:off x="777240" y="51206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Enregistrement réel du 06/10, jamais vu à l'entraînement 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surchauffe, souffle et pic de gaz correctement diagnostiqués.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Une infrastructure qui encaisse la panne</a:t>
            </a:r>
            <a:endParaRPr lang="en-US" sz="3200" dirty="0"/>
          </a:p>
        </p:txBody>
      </p:sp>
      <p:sp>
        <p:nvSpPr>
          <p:cNvPr id="3" name="vlan-1-fond"/>
          <p:cNvSpPr/>
          <p:nvPr/>
        </p:nvSpPr>
        <p:spPr>
          <a:xfrm>
            <a:off x="548640" y="1417320"/>
            <a:ext cx="3337560" cy="1920240"/>
          </a:xfrm>
          <a:prstGeom prst="roundRect">
            <a:avLst>
              <a:gd name="adj" fmla="val 2857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4" name="vlan-1"/>
          <p:cNvSpPr txBox="1"/>
          <p:nvPr/>
        </p:nvSpPr>
        <p:spPr>
          <a:xfrm>
            <a:off x="731520" y="16002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VLAN 10 · WEB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5"/>
                </a:solidFill>
              </a:rPr>
              <a:t>172.16.137.0/26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Mosquitto .4 · API et dashboard .5 · IA YOLO .6</a:t>
            </a:r>
            <a:endParaRPr lang="en-US" sz="1700" dirty="0"/>
          </a:p>
        </p:txBody>
      </p:sp>
      <p:sp>
        <p:nvSpPr>
          <p:cNvPr id="5" name="vlan-2-fond"/>
          <p:cNvSpPr/>
          <p:nvPr/>
        </p:nvSpPr>
        <p:spPr>
          <a:xfrm>
            <a:off x="4069080" y="1417320"/>
            <a:ext cx="3337560" cy="1920240"/>
          </a:xfrm>
          <a:prstGeom prst="roundRect">
            <a:avLst>
              <a:gd name="adj" fmla="val 2857"/>
            </a:avLst>
          </a:prstGeom>
          <a:solidFill>
            <a:srgbClr val="E8EEF3"/>
          </a:solidFill>
          <a:ln w="12700">
            <a:solidFill>
              <a:srgbClr val="E8EEF3"/>
            </a:solidFill>
            <a:prstDash val="solid"/>
          </a:ln>
        </p:spPr>
      </p:sp>
      <p:sp>
        <p:nvSpPr>
          <p:cNvPr id="6" name="vlan-2"/>
          <p:cNvSpPr txBox="1"/>
          <p:nvPr/>
        </p:nvSpPr>
        <p:spPr>
          <a:xfrm>
            <a:off x="4251960" y="16002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VLAN 20 · INFRA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5"/>
                </a:solidFill>
              </a:rPr>
              <a:t>172.16.137.64/26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Galera .1 .2 .3 derrière la VIP HAProxy .10</a:t>
            </a:r>
            <a:endParaRPr lang="en-US" sz="1700" dirty="0"/>
          </a:p>
        </p:txBody>
      </p:sp>
      <p:sp>
        <p:nvSpPr>
          <p:cNvPr id="7" name="vlan-3-fond"/>
          <p:cNvSpPr/>
          <p:nvPr/>
        </p:nvSpPr>
        <p:spPr>
          <a:xfrm>
            <a:off x="548640" y="3520440"/>
            <a:ext cx="3337560" cy="1920240"/>
          </a:xfrm>
          <a:prstGeom prst="roundRect">
            <a:avLst>
              <a:gd name="adj" fmla="val 2857"/>
            </a:avLst>
          </a:prstGeom>
          <a:solidFill>
            <a:srgbClr val="E0F2E8"/>
          </a:solidFill>
          <a:ln w="12700">
            <a:solidFill>
              <a:srgbClr val="E0F2E8"/>
            </a:solidFill>
            <a:prstDash val="solid"/>
          </a:ln>
        </p:spPr>
      </p:sp>
      <p:sp>
        <p:nvSpPr>
          <p:cNvPr id="8" name="vlan-3"/>
          <p:cNvSpPr txBox="1"/>
          <p:nvPr/>
        </p:nvSpPr>
        <p:spPr>
          <a:xfrm>
            <a:off x="731520" y="370332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VLAN 30 · SUPERVISION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5"/>
                </a:solidFill>
              </a:rPr>
              <a:t>172.16.137.128/26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Zabbix .8 : CPU, RAM, disque, disponibilité</a:t>
            </a:r>
            <a:endParaRPr lang="en-US" sz="1700" dirty="0"/>
          </a:p>
        </p:txBody>
      </p:sp>
      <p:sp>
        <p:nvSpPr>
          <p:cNvPr id="9" name="vlan-4-fond"/>
          <p:cNvSpPr/>
          <p:nvPr/>
        </p:nvSpPr>
        <p:spPr>
          <a:xfrm>
            <a:off x="4069080" y="3520440"/>
            <a:ext cx="3337560" cy="1920240"/>
          </a:xfrm>
          <a:prstGeom prst="roundRect">
            <a:avLst>
              <a:gd name="adj" fmla="val 2857"/>
            </a:avLst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10" name="vlan-4"/>
          <p:cNvSpPr txBox="1"/>
          <p:nvPr/>
        </p:nvSpPr>
        <p:spPr>
          <a:xfrm>
            <a:off x="4251960" y="370332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VLAN 40 · AUTOMATISATION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5"/>
                </a:solidFill>
              </a:rPr>
              <a:t>172.16.137.192/26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Ansible .7 : déploie Galera, Zabbix et les agents</a:t>
            </a:r>
            <a:endParaRPr lang="en-US" sz="1700" dirty="0"/>
          </a:p>
        </p:txBody>
      </p:sp>
      <p:sp>
        <p:nvSpPr>
          <p:cNvPr id="11" name="stat-galera-fond"/>
          <p:cNvSpPr/>
          <p:nvPr/>
        </p:nvSpPr>
        <p:spPr>
          <a:xfrm>
            <a:off x="7772400" y="1417320"/>
            <a:ext cx="3840480" cy="1325880"/>
          </a:xfrm>
          <a:prstGeom prst="roundRect">
            <a:avLst>
              <a:gd name="adj" fmla="val 413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stat-galera-texte"/>
          <p:cNvSpPr txBox="1"/>
          <p:nvPr/>
        </p:nvSpPr>
        <p:spPr>
          <a:xfrm>
            <a:off x="7955280" y="1527048"/>
            <a:ext cx="347472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</a:rPr>
              <a:t>3 nœuds</a:t>
            </a:r>
            <a:endParaRPr lang="en-US" sz="3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Galera synchrone : le quorum tient si un nœud tombe</a:t>
            </a:r>
            <a:endParaRPr lang="en-US" sz="3600" dirty="0"/>
          </a:p>
        </p:txBody>
      </p:sp>
      <p:sp>
        <p:nvSpPr>
          <p:cNvPr id="13" name="stat-vip-fond"/>
          <p:cNvSpPr/>
          <p:nvPr/>
        </p:nvSpPr>
        <p:spPr>
          <a:xfrm>
            <a:off x="7772400" y="2880360"/>
            <a:ext cx="3840480" cy="1325880"/>
          </a:xfrm>
          <a:prstGeom prst="roundRect">
            <a:avLst>
              <a:gd name="adj" fmla="val 413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stat-vip-texte"/>
          <p:cNvSpPr txBox="1"/>
          <p:nvPr/>
        </p:nvSpPr>
        <p:spPr>
          <a:xfrm>
            <a:off x="7955280" y="2990088"/>
            <a:ext cx="347472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</a:rPr>
              <a:t>1 VIP</a:t>
            </a:r>
            <a:endParaRPr lang="en-US" sz="3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HAProxy : l'API ne voit jamais un nœud isolé</a:t>
            </a:r>
            <a:endParaRPr lang="en-US" sz="3600" dirty="0"/>
          </a:p>
        </p:txBody>
      </p:sp>
      <p:sp>
        <p:nvSpPr>
          <p:cNvPr id="15" name="stat-zabbix-fond"/>
          <p:cNvSpPr/>
          <p:nvPr/>
        </p:nvSpPr>
        <p:spPr>
          <a:xfrm>
            <a:off x="7772400" y="4343400"/>
            <a:ext cx="3840480" cy="1325880"/>
          </a:xfrm>
          <a:prstGeom prst="roundRect">
            <a:avLst>
              <a:gd name="adj" fmla="val 413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stat-zabbix-texte"/>
          <p:cNvSpPr txBox="1"/>
          <p:nvPr/>
        </p:nvSpPr>
        <p:spPr>
          <a:xfrm>
            <a:off x="7955280" y="4453128"/>
            <a:ext cx="347472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</a:rPr>
              <a:t>100 %</a:t>
            </a:r>
            <a:endParaRPr lang="en-US" sz="3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des machines supervisées par Zabbix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Sécurité : ce que nous prouvons</a:t>
            </a:r>
            <a:endParaRPr lang="en-US" sz="3200" dirty="0"/>
          </a:p>
        </p:txBody>
      </p:sp>
      <p:graphicFrame>
        <p:nvGraphicFramePr>
          <p:cNvPr id="12" name="matrice-securit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657600"/>
                <a:gridCol w="3108960"/>
                <a:gridCol w="164592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Domaine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Mesure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Preuve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État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181F"/>
                          </a:solidFill>
                        </a:rPr>
                        <a:t>MQTT ESP8266 → broker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</a:rPr>
                        <a:t>TLS 8883, CA embarqué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Wireshark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3824F"/>
                          </a:solidFill>
                        </a:rPr>
                        <a:t>En place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181F"/>
                          </a:solidFill>
                        </a:rPr>
                        <a:t>Dashboard et API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</a:rPr>
                        <a:t>HTTPS / WSS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Cadenas navigateur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3824F"/>
                          </a:solidFill>
                        </a:rPr>
                        <a:t>En place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181F"/>
                          </a:solidFill>
                        </a:rPr>
                        <a:t>Pare-feu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</a:rPr>
                        <a:t>UFW, deny par défaut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ufw status verbose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3824F"/>
                          </a:solidFill>
                        </a:rPr>
                        <a:t>En place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181F"/>
                          </a:solidFill>
                        </a:rPr>
                        <a:t>Accès serveurs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</a:rPr>
                        <a:t>SSH par clé uniquement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sshd -T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3824F"/>
                          </a:solidFill>
                        </a:rPr>
                        <a:t>En place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181F"/>
                          </a:solidFill>
                        </a:rPr>
                        <a:t>Segmentation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</a:rPr>
                        <a:t>4 VLAN, base isolée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Schéma réseau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3824F"/>
                          </a:solidFill>
                        </a:rPr>
                        <a:t>En place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181F"/>
                          </a:solidFill>
                        </a:rPr>
                        <a:t>Secrets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</a:rPr>
                        <a:t>hors dépôt, modèles .example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grep vide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3824F"/>
                          </a:solidFill>
                        </a:rPr>
                        <a:t>En place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181F"/>
                          </a:solidFill>
                        </a:rPr>
                        <a:t>Broker MQTT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</a:rPr>
                        <a:t>authentification obligatoire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mosquitto.conf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3824F"/>
                          </a:solidFill>
                        </a:rPr>
                        <a:t>En place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Auto-audit et pentest croisé</a:t>
            </a:r>
            <a:endParaRPr lang="en-US" sz="3200" dirty="0"/>
          </a:p>
        </p:txBody>
      </p:sp>
      <p:sp>
        <p:nvSpPr>
          <p:cNvPr id="3" name="stat-correctifs-fond"/>
          <p:cNvSpPr/>
          <p:nvPr/>
        </p:nvSpPr>
        <p:spPr>
          <a:xfrm>
            <a:off x="548640" y="1463040"/>
            <a:ext cx="5577840" cy="1234440"/>
          </a:xfrm>
          <a:prstGeom prst="roundRect">
            <a:avLst>
              <a:gd name="adj" fmla="val 444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stat-correctifs-texte"/>
          <p:cNvSpPr txBox="1"/>
          <p:nvPr/>
        </p:nvSpPr>
        <p:spPr>
          <a:xfrm>
            <a:off x="731520" y="1572768"/>
            <a:ext cx="52120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</a:rPr>
              <a:t>5 correctifs</a:t>
            </a:r>
            <a:endParaRPr lang="en-US" sz="3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appliqués avant le pentest, après revue de toutes les briques</a:t>
            </a:r>
            <a:endParaRPr lang="en-US" sz="3600" dirty="0"/>
          </a:p>
        </p:txBody>
      </p:sp>
      <p:sp>
        <p:nvSpPr>
          <p:cNvPr id="5" name="correctif-1-puce"/>
          <p:cNvSpPr/>
          <p:nvPr/>
        </p:nvSpPr>
        <p:spPr>
          <a:xfrm>
            <a:off x="548640" y="2999232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correctif-1"/>
          <p:cNvSpPr txBox="1"/>
          <p:nvPr/>
        </p:nvSpPr>
        <p:spPr>
          <a:xfrm>
            <a:off x="1005840" y="29260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MQTT exclusivement sur TLS 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le boîtier ne parle plus jamais en clair</a:t>
            </a:r>
            <a:endParaRPr lang="en-US" sz="1400" dirty="0"/>
          </a:p>
        </p:txBody>
      </p:sp>
      <p:sp>
        <p:nvSpPr>
          <p:cNvPr id="7" name="correctif-2-puce"/>
          <p:cNvSpPr/>
          <p:nvPr/>
        </p:nvSpPr>
        <p:spPr>
          <a:xfrm>
            <a:off x="548640" y="3685032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correctif-2"/>
          <p:cNvSpPr txBox="1"/>
          <p:nvPr/>
        </p:nvSpPr>
        <p:spPr>
          <a:xfrm>
            <a:off x="1005840" y="36118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Secrets hors du dépôt 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.env, secrets.h, vault.yml exclus, modèles fournis</a:t>
            </a:r>
            <a:endParaRPr lang="en-US" sz="1400" dirty="0"/>
          </a:p>
        </p:txBody>
      </p:sp>
      <p:sp>
        <p:nvSpPr>
          <p:cNvPr id="9" name="correctif-3-puce"/>
          <p:cNvSpPr/>
          <p:nvPr/>
        </p:nvSpPr>
        <p:spPr>
          <a:xfrm>
            <a:off x="548640" y="4370832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correctif-3"/>
          <p:cNvSpPr txBox="1"/>
          <p:nvPr/>
        </p:nvSpPr>
        <p:spPr>
          <a:xfrm>
            <a:off x="1005840" y="42976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Clés obligatoires 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robot et API refusent de démarrer sans secret</a:t>
            </a:r>
            <a:endParaRPr lang="en-US" sz="1400" dirty="0"/>
          </a:p>
        </p:txBody>
      </p:sp>
      <p:sp>
        <p:nvSpPr>
          <p:cNvPr id="11" name="correctif-4-puce"/>
          <p:cNvSpPr/>
          <p:nvPr/>
        </p:nvSpPr>
        <p:spPr>
          <a:xfrm>
            <a:off x="548640" y="5056632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correctif-4"/>
          <p:cNvSpPr txBox="1"/>
          <p:nvPr/>
        </p:nvSpPr>
        <p:spPr>
          <a:xfrm>
            <a:off x="1005840" y="4983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Flux annoté au dashboard 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l'API relaie le flux YOLO, robot en repli</a:t>
            </a:r>
            <a:endParaRPr lang="en-US" sz="1400" dirty="0"/>
          </a:p>
        </p:txBody>
      </p:sp>
      <p:sp>
        <p:nvSpPr>
          <p:cNvPr id="13" name="pentest-fond"/>
          <p:cNvSpPr/>
          <p:nvPr/>
        </p:nvSpPr>
        <p:spPr>
          <a:xfrm>
            <a:off x="6492240" y="1463040"/>
            <a:ext cx="5120640" cy="4160520"/>
          </a:xfrm>
          <a:prstGeom prst="roundRect">
            <a:avLst>
              <a:gd name="adj" fmla="val 131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pentest-resultats"/>
          <p:cNvSpPr txBox="1"/>
          <p:nvPr/>
        </p:nvSpPr>
        <p:spPr>
          <a:xfrm>
            <a:off x="6720840" y="1645920"/>
            <a:ext cx="46634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PENTEST CROISÉ · 8 OCTOBRE</a:t>
            </a:r>
            <a:endParaRPr lang="en-US" sz="1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Attaques subies : …</a:t>
            </a:r>
            <a:endParaRPr lang="en-US" sz="1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Attaques bloquées : …</a:t>
            </a:r>
            <a:endParaRPr lang="en-US" sz="1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Failles exploitées : …</a:t>
            </a:r>
            <a:endParaRPr lang="en-US" sz="1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Correctifs appliqués : …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Un consortium, deux pôles, un contrat</a:t>
            </a:r>
            <a:endParaRPr lang="en-US" sz="3200" dirty="0"/>
          </a:p>
        </p:txBody>
      </p:sp>
      <p:sp>
        <p:nvSpPr>
          <p:cNvPr id="3" name="pole-infra-fond"/>
          <p:cNvSpPr/>
          <p:nvPr/>
        </p:nvSpPr>
        <p:spPr>
          <a:xfrm>
            <a:off x="548640" y="1417320"/>
            <a:ext cx="5394960" cy="210312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ole-infra-entete"/>
          <p:cNvSpPr/>
          <p:nvPr/>
        </p:nvSpPr>
        <p:spPr>
          <a:xfrm>
            <a:off x="548640" y="1417320"/>
            <a:ext cx="5394960" cy="914400"/>
          </a:xfrm>
          <a:prstGeom prst="roundRect">
            <a:avLst>
              <a:gd name="adj" fmla="val 6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ole-infra-raccord"/>
          <p:cNvSpPr/>
          <p:nvPr/>
        </p:nvSpPr>
        <p:spPr>
          <a:xfrm>
            <a:off x="548640" y="2221992"/>
            <a:ext cx="5394960" cy="109728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pole-infra-titre"/>
          <p:cNvSpPr txBox="1"/>
          <p:nvPr/>
        </p:nvSpPr>
        <p:spPr>
          <a:xfrm>
            <a:off x="731520" y="1490472"/>
            <a:ext cx="5029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PÔLE INFRA</a:t>
            </a:r>
            <a:endParaRPr lang="en-US" sz="11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Elios · Benoit</a:t>
            </a:r>
            <a:endParaRPr lang="en-US" sz="1100" dirty="0"/>
          </a:p>
        </p:txBody>
      </p:sp>
      <p:sp>
        <p:nvSpPr>
          <p:cNvPr id="7" name="pole-infra-texte"/>
          <p:cNvSpPr txBox="1"/>
          <p:nvPr/>
        </p:nvSpPr>
        <p:spPr>
          <a:xfrm>
            <a:off x="731520" y="24688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Proxmox et VLAN, Galera et HAProxy, Mosquitto et TLS, Ansible, Zabbix, durcissement.</a:t>
            </a:r>
            <a:endParaRPr lang="en-US" sz="1500" dirty="0"/>
          </a:p>
        </p:txBody>
      </p:sp>
      <p:sp>
        <p:nvSpPr>
          <p:cNvPr id="8" name="pole-dev-fond"/>
          <p:cNvSpPr/>
          <p:nvPr/>
        </p:nvSpPr>
        <p:spPr>
          <a:xfrm>
            <a:off x="6217920" y="1417320"/>
            <a:ext cx="5394960" cy="210312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ole-dev-entete"/>
          <p:cNvSpPr/>
          <p:nvPr/>
        </p:nvSpPr>
        <p:spPr>
          <a:xfrm>
            <a:off x="6217920" y="1417320"/>
            <a:ext cx="5394960" cy="914400"/>
          </a:xfrm>
          <a:prstGeom prst="roundRect">
            <a:avLst>
              <a:gd name="adj" fmla="val 6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pole-dev-raccord"/>
          <p:cNvSpPr/>
          <p:nvPr/>
        </p:nvSpPr>
        <p:spPr>
          <a:xfrm>
            <a:off x="6217920" y="2221992"/>
            <a:ext cx="5394960" cy="109728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pole-dev-titre"/>
          <p:cNvSpPr txBox="1"/>
          <p:nvPr/>
        </p:nvSpPr>
        <p:spPr>
          <a:xfrm>
            <a:off x="6400800" y="1490472"/>
            <a:ext cx="5029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PÔLE DEV</a:t>
            </a:r>
            <a:endParaRPr lang="en-US" sz="11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Felis · Martin · Matis</a:t>
            </a:r>
            <a:endParaRPr lang="en-US" sz="1100" dirty="0"/>
          </a:p>
        </p:txBody>
      </p:sp>
      <p:sp>
        <p:nvSpPr>
          <p:cNvPr id="12" name="pole-dev-texte"/>
          <p:cNvSpPr txBox="1"/>
          <p:nvPr/>
        </p:nvSpPr>
        <p:spPr>
          <a:xfrm>
            <a:off x="6400800" y="24688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Firmware ESP8266, API, dashboard React, IA de vision et prédictive, robot Yanshee.</a:t>
            </a:r>
            <a:endParaRPr lang="en-US" sz="1500" dirty="0"/>
          </a:p>
        </p:txBody>
      </p:sp>
      <p:sp>
        <p:nvSpPr>
          <p:cNvPr id="13" name="jour-1-tag"/>
          <p:cNvSpPr txBox="1"/>
          <p:nvPr/>
        </p:nvSpPr>
        <p:spPr>
          <a:xfrm>
            <a:off x="548640" y="3931920"/>
            <a:ext cx="502920" cy="384048"/>
          </a:xfrm>
          <a:prstGeom prst="roundRect">
            <a:avLst>
              <a:gd name="adj" fmla="val 11905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Lun</a:t>
            </a:r>
            <a:endParaRPr lang="en-US" sz="1400" dirty="0"/>
          </a:p>
        </p:txBody>
      </p:sp>
      <p:sp>
        <p:nvSpPr>
          <p:cNvPr id="14" name="jour-1"/>
          <p:cNvSpPr txBox="1"/>
          <p:nvPr/>
        </p:nvSpPr>
        <p:spPr>
          <a:xfrm>
            <a:off x="1188720" y="3886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Contrat d'interface figé, plan IP, VM</a:t>
            </a:r>
            <a:endParaRPr lang="en-US" sz="1300" dirty="0"/>
          </a:p>
        </p:txBody>
      </p:sp>
      <p:sp>
        <p:nvSpPr>
          <p:cNvPr id="15" name="jour-2-tag"/>
          <p:cNvSpPr txBox="1"/>
          <p:nvPr/>
        </p:nvSpPr>
        <p:spPr>
          <a:xfrm>
            <a:off x="3383280" y="3931920"/>
            <a:ext cx="502920" cy="384048"/>
          </a:xfrm>
          <a:prstGeom prst="roundRect">
            <a:avLst>
              <a:gd name="adj" fmla="val 11905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Mar</a:t>
            </a:r>
            <a:endParaRPr lang="en-US" sz="1400" dirty="0"/>
          </a:p>
        </p:txBody>
      </p:sp>
      <p:sp>
        <p:nvSpPr>
          <p:cNvPr id="16" name="jour-2"/>
          <p:cNvSpPr txBox="1"/>
          <p:nvPr/>
        </p:nvSpPr>
        <p:spPr>
          <a:xfrm>
            <a:off x="4023360" y="3886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Câblage, firmware, broker, Galera, API</a:t>
            </a:r>
            <a:endParaRPr lang="en-US" sz="1300" dirty="0"/>
          </a:p>
        </p:txBody>
      </p:sp>
      <p:sp>
        <p:nvSpPr>
          <p:cNvPr id="17" name="jour-3-tag"/>
          <p:cNvSpPr txBox="1"/>
          <p:nvPr/>
        </p:nvSpPr>
        <p:spPr>
          <a:xfrm>
            <a:off x="6217920" y="3931920"/>
            <a:ext cx="502920" cy="384048"/>
          </a:xfrm>
          <a:prstGeom prst="roundRect">
            <a:avLst>
              <a:gd name="adj" fmla="val 11905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Mer</a:t>
            </a:r>
            <a:endParaRPr lang="en-US" sz="1400" dirty="0"/>
          </a:p>
        </p:txBody>
      </p:sp>
      <p:sp>
        <p:nvSpPr>
          <p:cNvPr id="18" name="jour-3"/>
          <p:cNvSpPr txBox="1"/>
          <p:nvPr/>
        </p:nvSpPr>
        <p:spPr>
          <a:xfrm>
            <a:off x="6858000" y="3886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Bout en bout, IA, robot, tournage</a:t>
            </a:r>
            <a:endParaRPr lang="en-US" sz="1300" dirty="0"/>
          </a:p>
        </p:txBody>
      </p:sp>
      <p:sp>
        <p:nvSpPr>
          <p:cNvPr id="19" name="jour-4-tag"/>
          <p:cNvSpPr txBox="1"/>
          <p:nvPr/>
        </p:nvSpPr>
        <p:spPr>
          <a:xfrm>
            <a:off x="9052560" y="3931920"/>
            <a:ext cx="502920" cy="384048"/>
          </a:xfrm>
          <a:prstGeom prst="roundRect">
            <a:avLst>
              <a:gd name="adj" fmla="val 11905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Jeu</a:t>
            </a:r>
            <a:endParaRPr lang="en-US" sz="1400" dirty="0"/>
          </a:p>
        </p:txBody>
      </p:sp>
      <p:sp>
        <p:nvSpPr>
          <p:cNvPr id="20" name="jour-4"/>
          <p:cNvSpPr txBox="1"/>
          <p:nvPr/>
        </p:nvSpPr>
        <p:spPr>
          <a:xfrm>
            <a:off x="9692640" y="3886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TLS seul, secrets, audit, pentest</a:t>
            </a:r>
            <a:endParaRPr lang="en-US" sz="1300" dirty="0"/>
          </a:p>
        </p:txBody>
      </p:sp>
      <p:sp>
        <p:nvSpPr>
          <p:cNvPr id="21" name="methode-fond"/>
          <p:cNvSpPr/>
          <p:nvPr/>
        </p:nvSpPr>
        <p:spPr>
          <a:xfrm>
            <a:off x="548640" y="5074920"/>
            <a:ext cx="11064240" cy="640080"/>
          </a:xfrm>
          <a:prstGeom prst="roundRect">
            <a:avLst>
              <a:gd name="adj" fmla="val 7143"/>
            </a:avLst>
          </a:prstGeom>
          <a:solidFill>
            <a:srgbClr val="F1F4F6"/>
          </a:solidFill>
          <a:ln w="12700">
            <a:solidFill>
              <a:srgbClr val="F1F4F6"/>
            </a:solidFill>
            <a:prstDash val="solid"/>
          </a:ln>
        </p:spPr>
      </p:sp>
      <p:sp>
        <p:nvSpPr>
          <p:cNvPr id="22" name="methode"/>
          <p:cNvSpPr txBox="1"/>
          <p:nvPr/>
        </p:nvSpPr>
        <p:spPr>
          <a:xfrm>
            <a:off x="777240" y="50749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Méthode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Jira pour les tâches · une branche par brique, fusion par pull request · commits sémantiques · tests automatisés sur l'API et les IA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chemeClr val="accent1"/>
                </a:solidFill>
              </a:rPr>
              <a:t>SENTINEL-X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554480"/>
            <a:ext cx="8686800" cy="21945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bg1"/>
                </a:solidFill>
              </a:rPr>
              <a:t>La sécurité</a:t>
            </a:r>
            <a:endParaRPr lang="en-US" sz="6600" dirty="0"/>
          </a:p>
          <a:p>
            <a:pPr algn="l" indent="0" marL="0">
              <a:buNone/>
            </a:pPr>
            <a:r>
              <a:rPr lang="en-US" sz="6600" b="1" dirty="0">
                <a:solidFill>
                  <a:schemeClr val="bg1"/>
                </a:solidFill>
              </a:rPr>
              <a:t>à la bordure.</a:t>
            </a:r>
            <a:endParaRPr lang="en-US" sz="6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93192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Merci. Vos questions ?</a:t>
            </a:r>
            <a:endParaRPr lang="en-US" sz="2400" dirty="0"/>
          </a:p>
        </p:txBody>
      </p:sp>
      <p:pic>
        <p:nvPicPr>
          <p:cNvPr id="5" name="logo-bouclier-fin" descr="/Users/felis/Documents/Workspace/Ecole/Master/Workshop-2026/Sentinel-X-Yanshee-defender-3000/livrables/sources/pptx/shiel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8138160" y="822960"/>
            <a:ext cx="4206240" cy="4206240"/>
          </a:xfrm>
          <a:prstGeom prst="rect">
            <a:avLst/>
          </a:prstGeom>
        </p:spPr>
      </p:pic>
      <p:sp>
        <p:nvSpPr>
          <p:cNvPr id="6" name="a-retenir-1"/>
          <p:cNvSpPr txBox="1"/>
          <p:nvPr/>
        </p:nvSpPr>
        <p:spPr>
          <a:xfrm>
            <a:off x="731520" y="51206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Bout en bout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du capteur au dashboard, chiffré</a:t>
            </a:r>
            <a:endParaRPr lang="en-US" sz="1600" dirty="0"/>
          </a:p>
        </p:txBody>
      </p:sp>
      <p:sp>
        <p:nvSpPr>
          <p:cNvPr id="7" name="a-retenir-2"/>
          <p:cNvSpPr txBox="1"/>
          <p:nvPr/>
        </p:nvSpPr>
        <p:spPr>
          <a:xfrm>
            <a:off x="4389120" y="51206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IA qui anticipe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9 à 22 min avant le seuil</a:t>
            </a:r>
            <a:endParaRPr lang="en-US" sz="1600" dirty="0"/>
          </a:p>
        </p:txBody>
      </p:sp>
      <p:sp>
        <p:nvSpPr>
          <p:cNvPr id="8" name="a-retenir-3"/>
          <p:cNvSpPr txBox="1"/>
          <p:nvPr/>
        </p:nvSpPr>
        <p:spPr>
          <a:xfrm>
            <a:off x="8046720" y="51206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Infra résiliente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Galera ×3, VLAN, supervision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ntinel-X">
  <a:themeElements>
    <a:clrScheme name="Sentinel-X">
      <a:dk1>
        <a:srgbClr val="14181F"/>
      </a:dk1>
      <a:lt1>
        <a:srgbClr val="FFFFFF"/>
      </a:lt1>
      <a:dk2>
        <a:srgbClr val="3A4452"/>
      </a:dk2>
      <a:lt2>
        <a:srgbClr val="F1F4F6"/>
      </a:lt2>
      <a:accent1>
        <a:srgbClr val="F2B705"/>
      </a:accent1>
      <a:accent2>
        <a:srgbClr val="C8372B"/>
      </a:accent2>
      <a:accent3>
        <a:srgbClr val="23824F"/>
      </a:accent3>
      <a:accent4>
        <a:srgbClr val="B86E00"/>
      </a:accent4>
      <a:accent5>
        <a:srgbClr val="6B7886"/>
      </a:accent5>
      <a:accent6>
        <a:srgbClr val="2F6DB5"/>
      </a:accent6>
      <a:hlink>
        <a:srgbClr val="2F6DB5"/>
      </a:hlink>
      <a:folHlink>
        <a:srgbClr val="6B7886"/>
      </a:folHlink>
    </a:clrScheme>
    <a:fontScheme name="Sentinel-X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Workshop EPSI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Sentinel-X - Soutenance Groupe 7</dc:title>
  <dc:subject>PptxGenJS Presentation</dc:subject>
  <dc:creator>Groupe 7</dc:creator>
  <cp:lastModifiedBy>Groupe 7</cp:lastModifiedBy>
  <cp:revision>1</cp:revision>
  <dcterms:created xsi:type="dcterms:W3CDTF">2026-10-08T14:27:49Z</dcterms:created>
  <dcterms:modified xsi:type="dcterms:W3CDTF">2026-10-08T14:27:49Z</dcterms:modified>
</cp:coreProperties>
</file>